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Montserrat" pitchFamily="2" charset="77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55"/>
    <p:restoredTop sz="95170"/>
  </p:normalViewPr>
  <p:slideViewPr>
    <p:cSldViewPr snapToGrid="0">
      <p:cViewPr>
        <p:scale>
          <a:sx n="65" d="100"/>
          <a:sy n="65" d="100"/>
        </p:scale>
        <p:origin x="336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54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-1"/>
            <a:ext cx="18280957" cy="4062171"/>
          </a:xfrm>
          <a:custGeom>
            <a:avLst/>
            <a:gdLst/>
            <a:ahLst/>
            <a:cxnLst/>
            <a:rect l="l" t="t" r="r" b="b"/>
            <a:pathLst>
              <a:path w="18654038" h="3934306" extrusionOk="0">
                <a:moveTo>
                  <a:pt x="0" y="0"/>
                </a:moveTo>
                <a:lnTo>
                  <a:pt x="18654038" y="0"/>
                </a:lnTo>
                <a:lnTo>
                  <a:pt x="18654038" y="3934306"/>
                </a:lnTo>
                <a:lnTo>
                  <a:pt x="0" y="3934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3690142"/>
            <a:ext cx="18280957" cy="4465437"/>
          </a:xfrm>
          <a:custGeom>
            <a:avLst/>
            <a:gdLst/>
            <a:ahLst/>
            <a:cxnLst/>
            <a:rect l="l" t="t" r="r" b="b"/>
            <a:pathLst>
              <a:path w="18654038" h="3934306" extrusionOk="0">
                <a:moveTo>
                  <a:pt x="0" y="0"/>
                </a:moveTo>
                <a:lnTo>
                  <a:pt x="18654037" y="0"/>
                </a:lnTo>
                <a:lnTo>
                  <a:pt x="18654037" y="3934306"/>
                </a:lnTo>
                <a:lnTo>
                  <a:pt x="0" y="3934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7454016"/>
            <a:ext cx="18288000" cy="2854558"/>
          </a:xfrm>
          <a:custGeom>
            <a:avLst/>
            <a:gdLst/>
            <a:ahLst/>
            <a:cxnLst/>
            <a:rect l="l" t="t" r="r" b="b"/>
            <a:pathLst>
              <a:path w="18654038" h="3934306" extrusionOk="0">
                <a:moveTo>
                  <a:pt x="0" y="0"/>
                </a:moveTo>
                <a:lnTo>
                  <a:pt x="18654038" y="0"/>
                </a:lnTo>
                <a:lnTo>
                  <a:pt x="18654038" y="3934306"/>
                </a:lnTo>
                <a:lnTo>
                  <a:pt x="0" y="3934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Caixa branca"/>
          <p:cNvSpPr/>
          <p:nvPr/>
        </p:nvSpPr>
        <p:spPr>
          <a:xfrm>
            <a:off x="244800" y="172800"/>
            <a:ext cx="4496400" cy="1969200"/>
          </a:xfrm>
          <a:prstGeom prst="roundRect">
            <a:avLst>
              <a:gd name="adj" fmla="val 170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Caixa branca"/>
          <p:cNvSpPr/>
          <p:nvPr/>
        </p:nvSpPr>
        <p:spPr>
          <a:xfrm>
            <a:off x="4942800" y="165600"/>
            <a:ext cx="8420400" cy="1969200"/>
          </a:xfrm>
          <a:prstGeom prst="roundRect">
            <a:avLst>
              <a:gd name="adj" fmla="val 170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Caixa branca"/>
          <p:cNvSpPr/>
          <p:nvPr/>
        </p:nvSpPr>
        <p:spPr>
          <a:xfrm>
            <a:off x="13543200" y="172800"/>
            <a:ext cx="4496400" cy="1969200"/>
          </a:xfrm>
          <a:prstGeom prst="roundRect">
            <a:avLst>
              <a:gd name="adj" fmla="val 170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Caixa branca"/>
          <p:cNvSpPr/>
          <p:nvPr/>
        </p:nvSpPr>
        <p:spPr>
          <a:xfrm>
            <a:off x="244800" y="2408400"/>
            <a:ext cx="4496400" cy="7700400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Caixa branca"/>
          <p:cNvSpPr/>
          <p:nvPr/>
        </p:nvSpPr>
        <p:spPr>
          <a:xfrm>
            <a:off x="4942800" y="2408400"/>
            <a:ext cx="8420400" cy="77004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Caixa branca"/>
          <p:cNvSpPr/>
          <p:nvPr/>
        </p:nvSpPr>
        <p:spPr>
          <a:xfrm>
            <a:off x="13543200" y="2408400"/>
            <a:ext cx="4496400" cy="7700400"/>
          </a:xfrm>
          <a:prstGeom prst="roundRect">
            <a:avLst>
              <a:gd name="adj" fmla="val 744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5" name="Google Shape;11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3775" y="345232"/>
            <a:ext cx="1632548" cy="162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 title="pucpr-vermelha.png"/>
          <p:cNvPicPr preferRelativeResize="0"/>
          <p:nvPr/>
        </p:nvPicPr>
        <p:blipFill rotWithShape="1">
          <a:blip r:embed="rId5">
            <a:alphaModFix/>
          </a:blip>
          <a:srcRect t="120" b="110"/>
          <a:stretch/>
        </p:blipFill>
        <p:spPr>
          <a:xfrm>
            <a:off x="366125" y="611694"/>
            <a:ext cx="2435900" cy="110144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itulo"/>
          <p:cNvSpPr txBox="1"/>
          <p:nvPr/>
        </p:nvSpPr>
        <p:spPr>
          <a:xfrm>
            <a:off x="4978800" y="316420"/>
            <a:ext cx="8348400" cy="1298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360"/>
              </a:lnSpc>
              <a:buNone/>
            </a:pPr>
            <a:r>
              <a:rPr sz="3200" b="1" lang="pt-BR">
                <a:solidFill>
                  <a:srgbClr val="D52128"/>
                </a:solidFill>
                <a:latin typeface="Arial"/>
                <a:ea typeface="Arial"/>
                <a:cs typeface="Arial"/>
                <a:sym typeface="Arial"/>
              </a:rPr>
              <a:t>Detecção de Sonolência em Dispositivos</a:t>
            </a:r>
            <a:br>
              <a:rPr lang="pt-BR" sz="3200"/>
            </a:br>
            <a:r>
              <a:rPr sz="3200" b="1" lang="pt-BR">
                <a:solidFill>
                  <a:srgbClr val="D52128"/>
                </a:solidFill>
                <a:latin typeface="Arial"/>
                <a:ea typeface="Arial"/>
                <a:cs typeface="Arial"/>
                <a:sym typeface="Arial"/>
              </a:rPr>
              <a:t>Móveis: Avaliação da Generalização</a:t>
            </a:r>
            <a:br>
              <a:rPr lang="pt-BR" sz="3200"/>
            </a:br>
            <a:r>
              <a:rPr sz="3200" b="1" lang="pt-BR">
                <a:solidFill>
                  <a:srgbClr val="D52128"/>
                </a:solidFill>
                <a:latin typeface="Arial"/>
                <a:ea typeface="Arial"/>
                <a:cs typeface="Arial"/>
                <a:sym typeface="Arial"/>
              </a:rPr>
              <a:t>entre Sonolência Atuada e Real</a:t>
            </a:r>
          </a:p>
        </p:txBody>
      </p:sp>
      <p:sp>
        <p:nvSpPr>
          <p:cNvPr id="124" name="Endereco do repositorio"/>
          <p:cNvSpPr txBox="1"/>
          <p:nvPr/>
        </p:nvSpPr>
        <p:spPr>
          <a:xfrm>
            <a:off x="4978800" y="1704580"/>
            <a:ext cx="8348400" cy="29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00"/>
              </a:lnSpc>
              <a:buNone/>
            </a:pPr>
            <a:r>
              <a:rPr sz="20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Código e app: github.com/BrunoRodolfoo/deteccao-sonolencia</a:t>
            </a:r>
          </a:p>
        </p:txBody>
      </p:sp>
      <p:sp>
        <p:nvSpPr>
          <p:cNvPr id="125" name="Autores"/>
          <p:cNvSpPr txBox="1"/>
          <p:nvPr/>
        </p:nvSpPr>
        <p:spPr>
          <a:xfrm>
            <a:off x="13734000" y="293800"/>
            <a:ext cx="3041999" cy="174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André Luís O. F. da Silva</a:t>
            </a:r>
          </a:p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Bruno Rodolfo da Silveira</a:t>
            </a:r>
          </a:p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Bruno Sandoval Ribeiro</a:t>
            </a:r>
          </a:p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Paulo Henrique Perin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None/>
            </a:pPr>
            <a:r>
              <a:rPr sz="20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Orientador:</a:t>
            </a:r>
          </a:p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Prof. Júlio César Nievola</a:t>
            </a:r>
          </a:p>
        </p:txBody>
      </p:sp>
      <p:pic>
        <p:nvPicPr>
          <p:cNvPr id="126" name="qr_repositorio.png" descr="qr_repositor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3600" y="635400"/>
            <a:ext cx="1044000" cy="1044000"/>
          </a:xfrm>
          <a:prstGeom prst="rect">
            <a:avLst/>
          </a:prstGeom>
        </p:spPr>
      </p:pic>
      <p:sp>
        <p:nvSpPr>
          <p:cNvPr id="127" name="Titulo col 1"/>
          <p:cNvSpPr txBox="1"/>
          <p:nvPr/>
        </p:nvSpPr>
        <p:spPr>
          <a:xfrm>
            <a:off x="413999" y="2538000"/>
            <a:ext cx="4176000" cy="391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40"/>
              </a:lnSpc>
              <a:buNone/>
            </a:pPr>
            <a:r>
              <a:rPr sz="28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Contexto e Pergunta</a:t>
            </a:r>
          </a:p>
        </p:txBody>
      </p:sp>
      <p:sp>
        <p:nvSpPr>
          <p:cNvPr id="128" name="Corpo col 1"/>
          <p:cNvSpPr txBox="1"/>
          <p:nvPr/>
        </p:nvSpPr>
        <p:spPr>
          <a:xfrm>
            <a:off x="413999" y="2947380"/>
            <a:ext cx="4176000" cy="70534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Condições de saúde do condutor,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sono incluído, pesam em </a:t>
            </a: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27,8%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das ocorrências nas rodovias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federais [7].</a:t>
            </a:r>
          </a:p>
          <a:p>
            <a:pPr algn="l">
              <a:lnSpc>
                <a:spcPts val="2200"/>
              </a:lnSpc>
              <a:spcBef>
                <a:spcPts val="1400"/>
              </a:spcBef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 sono encenado (atuado), os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detectores passam de 90% de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acurácia [6]. Com sono real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(UTA-RLDD), o modelo dos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autores da base acerta 65,2% dos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vídeos, e pessoas, 57,8% [1].</a:t>
            </a:r>
          </a:p>
          <a:p>
            <a:pPr algn="l">
              <a:lnSpc>
                <a:spcPts val="2200"/>
              </a:lnSpc>
              <a:spcBef>
                <a:spcPts val="3000"/>
              </a:spcBef>
              <a:buNone/>
            </a:pPr>
            <a:r>
              <a:rPr sz="2000" b="1" lang="pt-BR">
                <a:solidFill>
                  <a:srgbClr val="D52128"/>
                </a:solidFill>
                <a:latin typeface="Arial"/>
                <a:ea typeface="Arial"/>
                <a:cs typeface="Arial"/>
                <a:sym typeface="Arial"/>
              </a:rPr>
              <a:t>Pergunta central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Um detector treinado com sono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encenado reconhece sono real de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pessoas nunca vistas, no celular?</a:t>
            </a:r>
          </a:p>
          <a:p>
            <a:pPr algn="l">
              <a:lnSpc>
                <a:spcPts val="2200"/>
              </a:lnSpc>
              <a:spcBef>
                <a:spcPts val="3000"/>
              </a:spcBef>
              <a:buNone/>
            </a:pPr>
            <a:r>
              <a:rPr sz="2000" b="1" lang="pt-BR">
                <a:solidFill>
                  <a:srgbClr val="D52128"/>
                </a:solidFill>
                <a:latin typeface="Arial"/>
                <a:ea typeface="Arial"/>
                <a:cs typeface="Arial"/>
                <a:sym typeface="Arial"/>
              </a:rPr>
              <a:t>Perguntas de pesquisa</a:t>
            </a:r>
          </a:p>
          <a:p>
            <a:pPr algn="l">
              <a:lnSpc>
                <a:spcPts val="2200"/>
              </a:lnSpc>
              <a:spcBef>
                <a:spcPts val="400"/>
              </a:spcBef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PP1.</a:t>
            </a: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Quanto se perde do sono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encenado para o real?</a:t>
            </a:r>
          </a:p>
          <a:p>
            <a:pPr algn="l">
              <a:lnSpc>
                <a:spcPts val="2200"/>
              </a:lnSpc>
              <a:spcBef>
                <a:spcPts val="1000"/>
              </a:spcBef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PP2.</a:t>
            </a: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Qual o custo no celular?</a:t>
            </a:r>
          </a:p>
          <a:p>
            <a:pPr algn="l">
              <a:lnSpc>
                <a:spcPts val="2200"/>
              </a:lnSpc>
              <a:spcBef>
                <a:spcPts val="1000"/>
              </a:spcBef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PP3.</a:t>
            </a: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Resiste à noite, ao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movimento e aos óculos?</a:t>
            </a:r>
          </a:p>
        </p:txBody>
      </p:sp>
      <p:sp>
        <p:nvSpPr>
          <p:cNvPr id="129" name="Titulo col 2"/>
          <p:cNvSpPr txBox="1"/>
          <p:nvPr/>
        </p:nvSpPr>
        <p:spPr>
          <a:xfrm>
            <a:off x="5130000" y="2538000"/>
            <a:ext cx="8046000" cy="391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40"/>
              </a:lnSpc>
              <a:buNone/>
            </a:pPr>
            <a:r>
              <a:rPr sz="28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Método e Resultados</a:t>
            </a:r>
          </a:p>
        </p:txBody>
      </p:sp>
      <p:pic>
        <p:nvPicPr>
          <p:cNvPr id="130" name="fig_poster_metodo.png" descr="fig_poster_meto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000" y="2970000"/>
            <a:ext cx="8046000" cy="2158560"/>
          </a:xfrm>
          <a:prstGeom prst="rect">
            <a:avLst/>
          </a:prstGeom>
        </p:spPr>
      </p:pic>
      <p:sp>
        <p:nvSpPr>
          <p:cNvPr id="131" name="Tabela 1.1"/>
          <p:cNvSpPr txBox="1"/>
          <p:nvPr/>
        </p:nvSpPr>
        <p:spPr>
          <a:xfrm>
            <a:off x="5202000" y="5263900"/>
            <a:ext cx="2231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UTA-RLDD [1]</a:t>
            </a:r>
          </a:p>
        </p:txBody>
      </p:sp>
      <p:sp>
        <p:nvSpPr>
          <p:cNvPr id="132" name="Tabela 1.2"/>
          <p:cNvSpPr txBox="1"/>
          <p:nvPr/>
        </p:nvSpPr>
        <p:spPr>
          <a:xfrm>
            <a:off x="7578000" y="5263900"/>
            <a:ext cx="2807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sono real, 60 pessoas</a:t>
            </a:r>
          </a:p>
        </p:txBody>
      </p:sp>
      <p:sp>
        <p:nvSpPr>
          <p:cNvPr id="133" name="Tabela 1.3"/>
          <p:cNvSpPr txBox="1"/>
          <p:nvPr/>
        </p:nvSpPr>
        <p:spPr>
          <a:xfrm>
            <a:off x="10529999" y="5263900"/>
            <a:ext cx="2574000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teste (PP1)</a:t>
            </a:r>
          </a:p>
        </p:txBody>
      </p:sp>
      <p:sp>
        <p:nvSpPr>
          <p:cNvPr id="134" name="Tabela 2.1"/>
          <p:cNvSpPr txBox="1"/>
          <p:nvPr/>
        </p:nvSpPr>
        <p:spPr>
          <a:xfrm>
            <a:off x="5202000" y="5559100"/>
            <a:ext cx="2231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DMD [2]</a:t>
            </a:r>
          </a:p>
        </p:txBody>
      </p:sp>
      <p:sp>
        <p:nvSpPr>
          <p:cNvPr id="135" name="Tabela 2.2"/>
          <p:cNvSpPr txBox="1"/>
          <p:nvPr/>
        </p:nvSpPr>
        <p:spPr>
          <a:xfrm>
            <a:off x="7578000" y="5559100"/>
            <a:ext cx="2807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encenado, 13 pessoas</a:t>
            </a:r>
          </a:p>
        </p:txBody>
      </p:sp>
      <p:sp>
        <p:nvSpPr>
          <p:cNvPr id="136" name="Tabela 2.3"/>
          <p:cNvSpPr txBox="1"/>
          <p:nvPr/>
        </p:nvSpPr>
        <p:spPr>
          <a:xfrm>
            <a:off x="10529999" y="5559100"/>
            <a:ext cx="2574000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treino (PP1)</a:t>
            </a:r>
          </a:p>
        </p:txBody>
      </p:sp>
      <p:sp>
        <p:nvSpPr>
          <p:cNvPr id="137" name="Tabela 3.1"/>
          <p:cNvSpPr txBox="1"/>
          <p:nvPr/>
        </p:nvSpPr>
        <p:spPr>
          <a:xfrm>
            <a:off x="5202000" y="5854299"/>
            <a:ext cx="2231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NITYMED [3]</a:t>
            </a:r>
          </a:p>
        </p:txBody>
      </p:sp>
      <p:sp>
        <p:nvSpPr>
          <p:cNvPr id="138" name="Tabela 3.2"/>
          <p:cNvSpPr txBox="1"/>
          <p:nvPr/>
        </p:nvSpPr>
        <p:spPr>
          <a:xfrm>
            <a:off x="7578000" y="5854299"/>
            <a:ext cx="2807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noite, carro andando</a:t>
            </a:r>
          </a:p>
        </p:txBody>
      </p:sp>
      <p:sp>
        <p:nvSpPr>
          <p:cNvPr id="139" name="Tabela 3.3"/>
          <p:cNvSpPr txBox="1"/>
          <p:nvPr/>
        </p:nvSpPr>
        <p:spPr>
          <a:xfrm>
            <a:off x="10529999" y="5854299"/>
            <a:ext cx="2574000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noite (PP3)</a:t>
            </a:r>
          </a:p>
        </p:txBody>
      </p:sp>
      <p:sp>
        <p:nvSpPr>
          <p:cNvPr id="140" name="Tabela 4.1"/>
          <p:cNvSpPr txBox="1"/>
          <p:nvPr/>
        </p:nvSpPr>
        <p:spPr>
          <a:xfrm>
            <a:off x="5202000" y="6149499"/>
            <a:ext cx="2231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MRL + CEW [4, 5]</a:t>
            </a:r>
          </a:p>
        </p:txBody>
      </p:sp>
      <p:sp>
        <p:nvSpPr>
          <p:cNvPr id="141" name="Tabela 4.2"/>
          <p:cNvSpPr txBox="1"/>
          <p:nvPr/>
        </p:nvSpPr>
        <p:spPr>
          <a:xfrm>
            <a:off x="7578000" y="6149499"/>
            <a:ext cx="2807999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recortes de olho</a:t>
            </a:r>
          </a:p>
        </p:txBody>
      </p:sp>
      <p:sp>
        <p:nvSpPr>
          <p:cNvPr id="142" name="Tabela 4.3"/>
          <p:cNvSpPr txBox="1"/>
          <p:nvPr/>
        </p:nvSpPr>
        <p:spPr>
          <a:xfrm>
            <a:off x="10529999" y="6149499"/>
            <a:ext cx="2574000" cy="28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olho e óculos (PP3)</a:t>
            </a:r>
          </a:p>
        </p:txBody>
      </p:sp>
      <p:sp>
        <p:nvSpPr>
          <p:cNvPr id="143" name="Linha da tabela"/>
          <p:cNvSpPr/>
          <p:nvPr/>
        </p:nvSpPr>
        <p:spPr>
          <a:xfrm>
            <a:off x="5130000" y="5247000"/>
            <a:ext cx="8046000" cy="1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Linha da tabela"/>
          <p:cNvSpPr/>
          <p:nvPr/>
        </p:nvSpPr>
        <p:spPr>
          <a:xfrm>
            <a:off x="5130000" y="5546700"/>
            <a:ext cx="8046000" cy="90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Linha da tabela"/>
          <p:cNvSpPr/>
          <p:nvPr/>
        </p:nvSpPr>
        <p:spPr>
          <a:xfrm>
            <a:off x="5130000" y="5841900"/>
            <a:ext cx="8046000" cy="90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Linha da tabela"/>
          <p:cNvSpPr/>
          <p:nvPr/>
        </p:nvSpPr>
        <p:spPr>
          <a:xfrm>
            <a:off x="5130000" y="6137100"/>
            <a:ext cx="8046000" cy="90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Linha da tabela"/>
          <p:cNvSpPr/>
          <p:nvPr/>
        </p:nvSpPr>
        <p:spPr>
          <a:xfrm>
            <a:off x="5130000" y="6427800"/>
            <a:ext cx="8046000" cy="1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8" name="fig_poster_exp5b.png" descr="fig_poster_exp5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0000" y="6562800"/>
            <a:ext cx="3960000" cy="3435479"/>
          </a:xfrm>
          <a:prstGeom prst="rect">
            <a:avLst/>
          </a:prstGeom>
        </p:spPr>
      </p:pic>
      <p:sp>
        <p:nvSpPr>
          <p:cNvPr id="149" name="Vazamento"/>
          <p:cNvSpPr txBox="1"/>
          <p:nvPr/>
        </p:nvSpPr>
        <p:spPr>
          <a:xfrm>
            <a:off x="9270000" y="6562800"/>
            <a:ext cx="3906000" cy="169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Vazamento</a:t>
            </a:r>
          </a:p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Nas sequências de piscadas,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que se sobrepõem, partir por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janela infla a acurácia em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45,3 pp; nas janelas de 10 s,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12,6 pp no RF e 1,2 pp na RL.</a:t>
            </a:r>
          </a:p>
        </p:txBody>
      </p:sp>
      <p:sp>
        <p:nvSpPr>
          <p:cNvPr id="150" name="App"/>
          <p:cNvSpPr txBox="1"/>
          <p:nvPr/>
        </p:nvSpPr>
        <p:spPr>
          <a:xfrm>
            <a:off x="9270000" y="8311200"/>
            <a:ext cx="3906000" cy="16895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App v2.1</a:t>
            </a:r>
          </a:p>
          <a:p>
            <a:pPr algn="l">
              <a:lnSpc>
                <a:spcPts val="2200"/>
              </a:lnSpc>
              <a:buNone/>
            </a:pP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Em 24 pessoas com sono real,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sentadas e fora do ajuste,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separou sonolento de acordado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(AUC 0,812); alarmou 15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sonolentos e 2 acordados.</a:t>
            </a:r>
          </a:p>
        </p:txBody>
      </p:sp>
      <p:sp>
        <p:nvSpPr>
          <p:cNvPr id="151" name="Titulo col 3"/>
          <p:cNvSpPr txBox="1"/>
          <p:nvPr/>
        </p:nvSpPr>
        <p:spPr>
          <a:xfrm>
            <a:off x="13680000" y="2538000"/>
            <a:ext cx="4194000" cy="391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40"/>
              </a:lnSpc>
              <a:buNone/>
            </a:pPr>
            <a:r>
              <a:rPr sz="28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</a:p>
        </p:txBody>
      </p:sp>
      <p:sp>
        <p:nvSpPr>
          <p:cNvPr id="152" name="Sintese"/>
          <p:cNvSpPr txBox="1"/>
          <p:nvPr/>
        </p:nvSpPr>
        <p:spPr>
          <a:xfrm>
            <a:off x="13680000" y="2970000"/>
            <a:ext cx="4194000" cy="169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  <a:buNone/>
            </a:pPr>
            <a:r>
              <a:rPr sz="24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Treinado com sono</a:t>
            </a:r>
            <a:br>
              <a:rPr lang="pt-BR" sz="2400"/>
            </a:br>
            <a:r>
              <a:rPr sz="24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encenado, o modelo só</a:t>
            </a:r>
            <a:br>
              <a:rPr lang="pt-BR" sz="2400"/>
            </a:br>
            <a:r>
              <a:rPr sz="24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reconhece 48,4% das</a:t>
            </a:r>
            <a:br>
              <a:rPr lang="pt-BR" sz="2400"/>
            </a:br>
            <a:r>
              <a:rPr sz="24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janelas de sono real, com</a:t>
            </a:r>
            <a:br>
              <a:rPr lang="pt-BR" sz="2400"/>
            </a:br>
            <a:r>
              <a:rPr sz="24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fechamentos mais curtos.</a:t>
            </a:r>
          </a:p>
        </p:txBody>
      </p:sp>
      <p:sp>
        <p:nvSpPr>
          <p:cNvPr id="153" name="Corpo col 3"/>
          <p:cNvSpPr txBox="1"/>
          <p:nvPr/>
        </p:nvSpPr>
        <p:spPr>
          <a:xfrm>
            <a:off x="13680000" y="4772400"/>
            <a:ext cx="4194000" cy="3914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PP1.</a:t>
            </a: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A RL do DMD perde de 5,4 a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9,8 pontos de AUC em todas as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normalizações testadas; o RF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perde 10,9 só com a referência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principal na UTA.</a:t>
            </a:r>
          </a:p>
          <a:p>
            <a:pPr algn="l">
              <a:lnSpc>
                <a:spcPts val="2200"/>
              </a:lnSpc>
              <a:spcBef>
                <a:spcPts val="600"/>
              </a:spcBef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PP2.</a:t>
            </a: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No iPhone 17 Pro, 11 a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23 ms por quadro (app 1.0).</a:t>
            </a:r>
          </a:p>
          <a:p>
            <a:pPr algn="l">
              <a:lnSpc>
                <a:spcPts val="2200"/>
              </a:lnSpc>
              <a:spcBef>
                <a:spcPts val="600"/>
              </a:spcBef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PP3.</a:t>
            </a: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A SNR do EAR (abertura do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olho) é 7,2 à noite, 8,7 com o carro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andando e 13,6 parado, de dia.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Óculos: AUC do olho de</a:t>
            </a:r>
            <a:br>
              <a:rPr lang="pt-BR" sz="2000"/>
            </a:b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93,4 para 65,1.</a:t>
            </a:r>
          </a:p>
          <a:p>
            <a:pPr algn="l">
              <a:lnSpc>
                <a:spcPts val="2200"/>
              </a:lnSpc>
              <a:spcBef>
                <a:spcPts val="600"/>
              </a:spcBef>
              <a:buNone/>
            </a:pPr>
            <a:r>
              <a:rPr sz="2000" b="1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Limitações.</a:t>
            </a:r>
            <a:r>
              <a:rPr sz="2000" b="0" lang="pt-BR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Um só par de bases.</a:t>
            </a:r>
          </a:p>
        </p:txBody>
      </p:sp>
      <p:sp>
        <p:nvSpPr>
          <p:cNvPr id="154" name="Referencias"/>
          <p:cNvSpPr txBox="1"/>
          <p:nvPr/>
        </p:nvSpPr>
        <p:spPr>
          <a:xfrm>
            <a:off x="13680000" y="8758739"/>
            <a:ext cx="4194000" cy="12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0"/>
              </a:lnSpc>
              <a:buNone/>
            </a:pPr>
            <a:r>
              <a:rPr sz="16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[1] Ghoddoosian et al., CVPRW 2019.</a:t>
            </a:r>
            <a:br>
              <a:rPr lang="pt-BR" sz="1600"/>
            </a:br>
            <a:r>
              <a:rPr sz="16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[2] Ortega et al., ECCVW 2020. [3] Petrellis</a:t>
            </a:r>
            <a:br>
              <a:rPr lang="pt-BR" sz="1600"/>
            </a:br>
            <a:r>
              <a:rPr sz="16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et al., DataPort 2022; DSD 2021. [4] Fusek,</a:t>
            </a:r>
            <a:br>
              <a:rPr lang="pt-BR" sz="1600"/>
            </a:br>
            <a:r>
              <a:rPr sz="16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ISVC 2018. [5] Song et al., Pattern</a:t>
            </a:r>
            <a:br>
              <a:rPr lang="pt-BR" sz="1600"/>
            </a:br>
            <a:r>
              <a:rPr sz="16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Recognit. 2014. [6] Lyu et al., arXiv 2018.</a:t>
            </a:r>
            <a:br>
              <a:rPr lang="pt-BR" sz="1600"/>
            </a:br>
            <a:r>
              <a:rPr sz="1600" b="0" lang="pt-BR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[7] ABRAMET/PRF, Agência Brasil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208</Words>
  <Application>Microsoft Macintosh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Montserrat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André Luís Oliveira Ferreira da Silva</cp:lastModifiedBy>
  <cp:revision>1</cp:revision>
  <dcterms:modified xsi:type="dcterms:W3CDTF">2026-10-27T14:33:51Z</dcterms:modified>
  <dc:title>Detecção de Sonolência em Dispositivos Móveis: Avaliação da Generalização entre Sonolência Atuada e Real</dc:title>
  <dc:creator>André Luís Oliveira Ferreira da Silva; Bruno Rodolfo da Silveira; Bruno Sandoval Ribeiro; Paulo Henrique Perin</dc:creator>
  <dc:subject>Pôster do Projeto Transformador II, Bacharelado em Ciência da Computação, PUCPR, 2026</dc:subject>
  <cp:keywords>detecção de sonolência; sonolência atuada; sonolência real; UTA-RLDD; DMD; celular</cp:keywords>
  <dc:language>pt-BR</dc:language>
  <cp:category>Pôster</cp:category>
  <dc:description/>
  <dcterms:created xsi:type="dcterms:W3CDTF">2026-10-27T14:33:51Z</dcterms:created>
</cp:coreProperties>
</file>