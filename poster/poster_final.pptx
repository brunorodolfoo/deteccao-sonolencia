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18288000" cy="10287000"/>
  <p:notesSz cx="6858000" cy="9144000"/>
  <p:embeddedFontLst>
    <p:embeddedFont>
      <p:font typeface="Montserrat" pitchFamily="2" charset="77"/>
      <p:regular r:id="rId4"/>
      <p:bold r:id="rId5"/>
      <p:italic r:id="rId6"/>
      <p:boldItalic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255"/>
    <p:restoredTop sz="95170"/>
  </p:normalViewPr>
  <p:slideViewPr>
    <p:cSldViewPr snapToGrid="0">
      <p:cViewPr>
        <p:scale>
          <a:sx n="65" d="100"/>
          <a:sy n="65" d="100"/>
        </p:scale>
        <p:origin x="336" y="16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9654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0" y="-1"/>
            <a:ext cx="18280957" cy="4062171"/>
          </a:xfrm>
          <a:custGeom>
            <a:avLst/>
            <a:gdLst/>
            <a:ahLst/>
            <a:cxnLst/>
            <a:rect l="l" t="t" r="r" b="b"/>
            <a:pathLst>
              <a:path w="18654038" h="3934306" extrusionOk="0">
                <a:moveTo>
                  <a:pt x="0" y="0"/>
                </a:moveTo>
                <a:lnTo>
                  <a:pt x="18654038" y="0"/>
                </a:lnTo>
                <a:lnTo>
                  <a:pt x="18654038" y="3934306"/>
                </a:lnTo>
                <a:lnTo>
                  <a:pt x="0" y="39343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/>
          <p:nvPr/>
        </p:nvSpPr>
        <p:spPr>
          <a:xfrm>
            <a:off x="0" y="3690142"/>
            <a:ext cx="18280957" cy="4465437"/>
          </a:xfrm>
          <a:custGeom>
            <a:avLst/>
            <a:gdLst/>
            <a:ahLst/>
            <a:cxnLst/>
            <a:rect l="l" t="t" r="r" b="b"/>
            <a:pathLst>
              <a:path w="18654038" h="3934306" extrusionOk="0">
                <a:moveTo>
                  <a:pt x="0" y="0"/>
                </a:moveTo>
                <a:lnTo>
                  <a:pt x="18654037" y="0"/>
                </a:lnTo>
                <a:lnTo>
                  <a:pt x="18654037" y="3934306"/>
                </a:lnTo>
                <a:lnTo>
                  <a:pt x="0" y="39343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3"/>
          <p:cNvSpPr/>
          <p:nvPr/>
        </p:nvSpPr>
        <p:spPr>
          <a:xfrm>
            <a:off x="0" y="7454016"/>
            <a:ext cx="18288000" cy="2854558"/>
          </a:xfrm>
          <a:custGeom>
            <a:avLst/>
            <a:gdLst/>
            <a:ahLst/>
            <a:cxnLst/>
            <a:rect l="l" t="t" r="r" b="b"/>
            <a:pathLst>
              <a:path w="18654038" h="3934306" extrusionOk="0">
                <a:moveTo>
                  <a:pt x="0" y="0"/>
                </a:moveTo>
                <a:lnTo>
                  <a:pt x="18654038" y="0"/>
                </a:lnTo>
                <a:lnTo>
                  <a:pt x="18654038" y="3934306"/>
                </a:lnTo>
                <a:lnTo>
                  <a:pt x="0" y="39343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Caixa branca"/>
          <p:cNvSpPr/>
          <p:nvPr/>
        </p:nvSpPr>
        <p:spPr>
          <a:xfrm>
            <a:off x="244800" y="172800"/>
            <a:ext cx="4496400" cy="1969200"/>
          </a:xfrm>
          <a:prstGeom prst="roundRect">
            <a:avLst>
              <a:gd name="adj" fmla="val 1700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Caixa branca"/>
          <p:cNvSpPr/>
          <p:nvPr/>
        </p:nvSpPr>
        <p:spPr>
          <a:xfrm>
            <a:off x="4942800" y="165600"/>
            <a:ext cx="8420400" cy="1969200"/>
          </a:xfrm>
          <a:prstGeom prst="roundRect">
            <a:avLst>
              <a:gd name="adj" fmla="val 1700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Caixa branca"/>
          <p:cNvSpPr/>
          <p:nvPr/>
        </p:nvSpPr>
        <p:spPr>
          <a:xfrm>
            <a:off x="13543200" y="172800"/>
            <a:ext cx="4496400" cy="1969200"/>
          </a:xfrm>
          <a:prstGeom prst="roundRect">
            <a:avLst>
              <a:gd name="adj" fmla="val 17001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Caixa branca"/>
          <p:cNvSpPr/>
          <p:nvPr/>
        </p:nvSpPr>
        <p:spPr>
          <a:xfrm>
            <a:off x="244800" y="2408400"/>
            <a:ext cx="4496400" cy="7700400"/>
          </a:xfrm>
          <a:prstGeom prst="roundRect">
            <a:avLst>
              <a:gd name="adj" fmla="val 744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Caixa branca"/>
          <p:cNvSpPr/>
          <p:nvPr/>
        </p:nvSpPr>
        <p:spPr>
          <a:xfrm>
            <a:off x="4942800" y="2408400"/>
            <a:ext cx="8420400" cy="77004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Caixa branca"/>
          <p:cNvSpPr/>
          <p:nvPr/>
        </p:nvSpPr>
        <p:spPr>
          <a:xfrm>
            <a:off x="13543200" y="2408400"/>
            <a:ext cx="4496400" cy="7700400"/>
          </a:xfrm>
          <a:prstGeom prst="roundRect">
            <a:avLst>
              <a:gd name="adj" fmla="val 7445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15" name="Google Shape;11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93775" y="345232"/>
            <a:ext cx="1632548" cy="16237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3" title="pucpr-vermelha.png"/>
          <p:cNvPicPr preferRelativeResize="0"/>
          <p:nvPr/>
        </p:nvPicPr>
        <p:blipFill rotWithShape="1">
          <a:blip r:embed="rId5">
            <a:alphaModFix/>
          </a:blip>
          <a:srcRect t="120" b="110"/>
          <a:stretch/>
        </p:blipFill>
        <p:spPr>
          <a:xfrm>
            <a:off x="366125" y="611694"/>
            <a:ext cx="2435900" cy="110144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Titulo"/>
          <p:cNvSpPr txBox="1"/>
          <p:nvPr/>
        </p:nvSpPr>
        <p:spPr>
          <a:xfrm>
            <a:off x="4978800" y="344360"/>
            <a:ext cx="8348400" cy="1298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360"/>
              </a:lnSpc>
              <a:buNone/>
            </a:pPr>
            <a:r>
              <a:rPr sz="3200" b="1" lang="pt-BR">
                <a:solidFill>
                  <a:srgbClr val="D52128"/>
                </a:solidFill>
                <a:latin typeface="Arial"/>
                <a:ea typeface="Arial"/>
                <a:cs typeface="Arial"/>
                <a:sym typeface="Arial"/>
              </a:rPr>
              <a:t>Detecção de Sonolência em Dispositivos</a:t>
            </a:r>
            <a:br>
              <a:rPr lang="pt-BR" sz="3200"/>
            </a:br>
            <a:r>
              <a:rPr sz="3200" b="1" lang="pt-BR">
                <a:solidFill>
                  <a:srgbClr val="D52128"/>
                </a:solidFill>
                <a:latin typeface="Arial"/>
                <a:ea typeface="Arial"/>
                <a:cs typeface="Arial"/>
                <a:sym typeface="Arial"/>
              </a:rPr>
              <a:t>Móveis: Avaliação da Generalização</a:t>
            </a:r>
            <a:br>
              <a:rPr lang="pt-BR" sz="3200"/>
            </a:br>
            <a:r>
              <a:rPr sz="3200" b="1" lang="pt-BR">
                <a:solidFill>
                  <a:srgbClr val="D52128"/>
                </a:solidFill>
                <a:latin typeface="Arial"/>
                <a:ea typeface="Arial"/>
                <a:cs typeface="Arial"/>
                <a:sym typeface="Arial"/>
              </a:rPr>
              <a:t>entre Sonolência Atuada e Real</a:t>
            </a:r>
          </a:p>
        </p:txBody>
      </p:sp>
      <p:sp>
        <p:nvSpPr>
          <p:cNvPr id="124" name="Endereco do repositorio"/>
          <p:cNvSpPr txBox="1"/>
          <p:nvPr/>
        </p:nvSpPr>
        <p:spPr>
          <a:xfrm>
            <a:off x="4978800" y="1732520"/>
            <a:ext cx="8348400" cy="24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60"/>
              </a:lnSpc>
              <a:buNone/>
            </a:pPr>
            <a:r>
              <a:rPr sz="1600" b="0" lang="pt-BR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Código e app: github.com/BrunoRodolfoo/deteccao-sonolencia</a:t>
            </a:r>
          </a:p>
        </p:txBody>
      </p:sp>
      <p:sp>
        <p:nvSpPr>
          <p:cNvPr id="125" name="Autores"/>
          <p:cNvSpPr txBox="1"/>
          <p:nvPr/>
        </p:nvSpPr>
        <p:spPr>
          <a:xfrm>
            <a:off x="13734000" y="293800"/>
            <a:ext cx="3041999" cy="17452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André Luís O. F. da Silva</a:t>
            </a:r>
          </a:p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Bruno Rodolfo da Silveira</a:t>
            </a:r>
          </a:p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Bruno Sandoval Ribeiro</a:t>
            </a:r>
          </a:p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Paulo Henrique Perin</a:t>
            </a:r>
          </a:p>
          <a:p>
            <a:pPr algn="l">
              <a:lnSpc>
                <a:spcPts val="2200"/>
              </a:lnSpc>
              <a:spcBef>
                <a:spcPts val="400"/>
              </a:spcBef>
              <a:buNone/>
            </a:pPr>
            <a:r>
              <a:rPr sz="2000" b="0" lang="pt-BR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Orientador:</a:t>
            </a:r>
          </a:p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Prof. Júlio César Nievola</a:t>
            </a:r>
          </a:p>
        </p:txBody>
      </p:sp>
      <p:pic>
        <p:nvPicPr>
          <p:cNvPr id="126" name="qr_repositorio.png" descr="qr_repositori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833600" y="635400"/>
            <a:ext cx="1044000" cy="1044000"/>
          </a:xfrm>
          <a:prstGeom prst="rect">
            <a:avLst/>
          </a:prstGeom>
        </p:spPr>
      </p:pic>
      <p:sp>
        <p:nvSpPr>
          <p:cNvPr id="127" name="Titulo col 1"/>
          <p:cNvSpPr txBox="1"/>
          <p:nvPr/>
        </p:nvSpPr>
        <p:spPr>
          <a:xfrm>
            <a:off x="413999" y="2538000"/>
            <a:ext cx="4176000" cy="391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40"/>
              </a:lnSpc>
              <a:buNone/>
            </a:pPr>
            <a:r>
              <a:rPr sz="28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Contexto e Pergunta</a:t>
            </a:r>
          </a:p>
        </p:txBody>
      </p:sp>
      <p:sp>
        <p:nvSpPr>
          <p:cNvPr id="128" name="Corpo col 1"/>
          <p:cNvSpPr txBox="1"/>
          <p:nvPr/>
        </p:nvSpPr>
        <p:spPr>
          <a:xfrm>
            <a:off x="413999" y="2947380"/>
            <a:ext cx="4176000" cy="70534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8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 saúde do condutor, sono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incluído, aparece em </a:t>
            </a:r>
            <a:r>
              <a:rPr sz="20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27,8%</a:t>
            </a: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 das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ocorrências nas rodovias federais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[7].</a:t>
            </a:r>
          </a:p>
          <a:p>
            <a:pPr algn="l">
              <a:lnSpc>
                <a:spcPts val="2180"/>
              </a:lnSpc>
              <a:spcBef>
                <a:spcPts val="720"/>
              </a:spcBef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Com sono encenado (atuado), os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detectores passam de 90% de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acurácia [6]. Com sono real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(UTA-RLDD), o melhor modelo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acerta 65,2% dos vídeos, e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pessoas, 57,8% [1].</a:t>
            </a:r>
          </a:p>
          <a:p>
            <a:pPr algn="l">
              <a:lnSpc>
                <a:spcPts val="2180"/>
              </a:lnSpc>
              <a:spcBef>
                <a:spcPts val="720"/>
              </a:spcBef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Outro cuidado: dividir treino e teste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por janela põe trechos do mesmo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vídeo nos dois lados (vazamento).</a:t>
            </a:r>
          </a:p>
          <a:p>
            <a:pPr algn="l">
              <a:lnSpc>
                <a:spcPts val="2180"/>
              </a:lnSpc>
              <a:spcBef>
                <a:spcPts val="1260"/>
              </a:spcBef>
              <a:buNone/>
            </a:pPr>
            <a:r>
              <a:rPr sz="2000" b="1" lang="pt-BR">
                <a:solidFill>
                  <a:srgbClr val="D52128"/>
                </a:solidFill>
                <a:latin typeface="Arial"/>
                <a:ea typeface="Arial"/>
                <a:cs typeface="Arial"/>
                <a:sym typeface="Arial"/>
              </a:rPr>
              <a:t>Pergunta central</a:t>
            </a:r>
          </a:p>
          <a:p>
            <a:pPr algn="l">
              <a:lnSpc>
                <a:spcPts val="2180"/>
              </a:lnSpc>
              <a:spcBef>
                <a:spcPts val="180"/>
              </a:spcBef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Um detector treinado com sono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encenado reconhece sono real de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pessoas nunca vistas, no celular?</a:t>
            </a:r>
          </a:p>
          <a:p>
            <a:pPr algn="l">
              <a:lnSpc>
                <a:spcPts val="2180"/>
              </a:lnSpc>
              <a:spcBef>
                <a:spcPts val="1260"/>
              </a:spcBef>
              <a:buNone/>
            </a:pPr>
            <a:r>
              <a:rPr sz="2000" b="1" lang="pt-BR">
                <a:solidFill>
                  <a:srgbClr val="D52128"/>
                </a:solidFill>
                <a:latin typeface="Arial"/>
                <a:ea typeface="Arial"/>
                <a:cs typeface="Arial"/>
                <a:sym typeface="Arial"/>
              </a:rPr>
              <a:t>Perguntas de pesquisa</a:t>
            </a:r>
          </a:p>
          <a:p>
            <a:pPr algn="l">
              <a:lnSpc>
                <a:spcPts val="2180"/>
              </a:lnSpc>
              <a:spcBef>
                <a:spcPts val="180"/>
              </a:spcBef>
              <a:buNone/>
            </a:pPr>
            <a:r>
              <a:rPr sz="20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PP1.</a:t>
            </a: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 Quanto se perde do sono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encenado para o real?</a:t>
            </a:r>
          </a:p>
          <a:p>
            <a:pPr algn="l">
              <a:lnSpc>
                <a:spcPts val="2180"/>
              </a:lnSpc>
              <a:spcBef>
                <a:spcPts val="450"/>
              </a:spcBef>
              <a:buNone/>
            </a:pPr>
            <a:r>
              <a:rPr sz="20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PP2.</a:t>
            </a: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 Qual o custo no celular?</a:t>
            </a:r>
          </a:p>
          <a:p>
            <a:pPr algn="l">
              <a:lnSpc>
                <a:spcPts val="2180"/>
              </a:lnSpc>
              <a:spcBef>
                <a:spcPts val="450"/>
              </a:spcBef>
              <a:buNone/>
            </a:pPr>
            <a:r>
              <a:rPr sz="20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PP3.</a:t>
            </a: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 Resiste à noite, ao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movimento e aos óculos?</a:t>
            </a:r>
          </a:p>
        </p:txBody>
      </p:sp>
      <p:sp>
        <p:nvSpPr>
          <p:cNvPr id="129" name="Titulo col 2"/>
          <p:cNvSpPr txBox="1"/>
          <p:nvPr/>
        </p:nvSpPr>
        <p:spPr>
          <a:xfrm>
            <a:off x="5130000" y="2538000"/>
            <a:ext cx="8046000" cy="391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40"/>
              </a:lnSpc>
              <a:buNone/>
            </a:pPr>
            <a:r>
              <a:rPr sz="28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Método e Resultados</a:t>
            </a:r>
          </a:p>
        </p:txBody>
      </p:sp>
      <p:pic>
        <p:nvPicPr>
          <p:cNvPr id="130" name="fig_poster_metodo.png" descr="fig_poster_metod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0000" y="2970000"/>
            <a:ext cx="8046000" cy="2158560"/>
          </a:xfrm>
          <a:prstGeom prst="rect">
            <a:avLst/>
          </a:prstGeom>
        </p:spPr>
      </p:pic>
      <p:sp>
        <p:nvSpPr>
          <p:cNvPr id="131" name="Tabela 1.1"/>
          <p:cNvSpPr txBox="1"/>
          <p:nvPr/>
        </p:nvSpPr>
        <p:spPr>
          <a:xfrm>
            <a:off x="5202000" y="5263900"/>
            <a:ext cx="2231999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UTA-RLDD [1]</a:t>
            </a:r>
          </a:p>
        </p:txBody>
      </p:sp>
      <p:sp>
        <p:nvSpPr>
          <p:cNvPr id="132" name="Tabela 1.2"/>
          <p:cNvSpPr txBox="1"/>
          <p:nvPr/>
        </p:nvSpPr>
        <p:spPr>
          <a:xfrm>
            <a:off x="7578000" y="5263900"/>
            <a:ext cx="2807999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sono real, 60 pessoas</a:t>
            </a:r>
          </a:p>
        </p:txBody>
      </p:sp>
      <p:sp>
        <p:nvSpPr>
          <p:cNvPr id="133" name="Tabela 1.3"/>
          <p:cNvSpPr txBox="1"/>
          <p:nvPr/>
        </p:nvSpPr>
        <p:spPr>
          <a:xfrm>
            <a:off x="10529999" y="5263900"/>
            <a:ext cx="2574000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teste real (PP1)</a:t>
            </a:r>
          </a:p>
        </p:txBody>
      </p:sp>
      <p:sp>
        <p:nvSpPr>
          <p:cNvPr id="134" name="Tabela 2.1"/>
          <p:cNvSpPr txBox="1"/>
          <p:nvPr/>
        </p:nvSpPr>
        <p:spPr>
          <a:xfrm>
            <a:off x="5202000" y="5559100"/>
            <a:ext cx="2231999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DMD [2]</a:t>
            </a:r>
          </a:p>
        </p:txBody>
      </p:sp>
      <p:sp>
        <p:nvSpPr>
          <p:cNvPr id="135" name="Tabela 2.2"/>
          <p:cNvSpPr txBox="1"/>
          <p:nvPr/>
        </p:nvSpPr>
        <p:spPr>
          <a:xfrm>
            <a:off x="7578000" y="5559100"/>
            <a:ext cx="2807999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encenado, 13 pessoas</a:t>
            </a:r>
          </a:p>
        </p:txBody>
      </p:sp>
      <p:sp>
        <p:nvSpPr>
          <p:cNvPr id="136" name="Tabela 2.3"/>
          <p:cNvSpPr txBox="1"/>
          <p:nvPr/>
        </p:nvSpPr>
        <p:spPr>
          <a:xfrm>
            <a:off x="10529999" y="5559100"/>
            <a:ext cx="2574000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treino atuado (PP1)</a:t>
            </a:r>
          </a:p>
        </p:txBody>
      </p:sp>
      <p:sp>
        <p:nvSpPr>
          <p:cNvPr id="137" name="Tabela 3.1"/>
          <p:cNvSpPr txBox="1"/>
          <p:nvPr/>
        </p:nvSpPr>
        <p:spPr>
          <a:xfrm>
            <a:off x="5202000" y="5854299"/>
            <a:ext cx="2231999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NITYMED [3]</a:t>
            </a:r>
          </a:p>
        </p:txBody>
      </p:sp>
      <p:sp>
        <p:nvSpPr>
          <p:cNvPr id="138" name="Tabela 3.2"/>
          <p:cNvSpPr txBox="1"/>
          <p:nvPr/>
        </p:nvSpPr>
        <p:spPr>
          <a:xfrm>
            <a:off x="7578000" y="5854299"/>
            <a:ext cx="2807999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noite, carro andando</a:t>
            </a:r>
          </a:p>
        </p:txBody>
      </p:sp>
      <p:sp>
        <p:nvSpPr>
          <p:cNvPr id="139" name="Tabela 3.3"/>
          <p:cNvSpPr txBox="1"/>
          <p:nvPr/>
        </p:nvSpPr>
        <p:spPr>
          <a:xfrm>
            <a:off x="10529999" y="5854299"/>
            <a:ext cx="2574000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noite (PP3)</a:t>
            </a:r>
          </a:p>
        </p:txBody>
      </p:sp>
      <p:sp>
        <p:nvSpPr>
          <p:cNvPr id="140" name="Tabela 4.1"/>
          <p:cNvSpPr txBox="1"/>
          <p:nvPr/>
        </p:nvSpPr>
        <p:spPr>
          <a:xfrm>
            <a:off x="5202000" y="6149499"/>
            <a:ext cx="2231999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MRL + CEW [4, 5]</a:t>
            </a:r>
          </a:p>
        </p:txBody>
      </p:sp>
      <p:sp>
        <p:nvSpPr>
          <p:cNvPr id="141" name="Tabela 4.2"/>
          <p:cNvSpPr txBox="1"/>
          <p:nvPr/>
        </p:nvSpPr>
        <p:spPr>
          <a:xfrm>
            <a:off x="7578000" y="6149499"/>
            <a:ext cx="2807999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recortes de olho</a:t>
            </a:r>
          </a:p>
        </p:txBody>
      </p:sp>
      <p:sp>
        <p:nvSpPr>
          <p:cNvPr id="142" name="Tabela 4.3"/>
          <p:cNvSpPr txBox="1"/>
          <p:nvPr/>
        </p:nvSpPr>
        <p:spPr>
          <a:xfrm>
            <a:off x="10529999" y="6149499"/>
            <a:ext cx="2574000" cy="283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olho e óculos (PP3)</a:t>
            </a:r>
          </a:p>
        </p:txBody>
      </p:sp>
      <p:sp>
        <p:nvSpPr>
          <p:cNvPr id="143" name="Linha da tabela"/>
          <p:cNvSpPr/>
          <p:nvPr/>
        </p:nvSpPr>
        <p:spPr>
          <a:xfrm>
            <a:off x="5130000" y="5247000"/>
            <a:ext cx="8046000" cy="1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Linha da tabela"/>
          <p:cNvSpPr/>
          <p:nvPr/>
        </p:nvSpPr>
        <p:spPr>
          <a:xfrm>
            <a:off x="5130000" y="5546700"/>
            <a:ext cx="8046000" cy="90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Linha da tabela"/>
          <p:cNvSpPr/>
          <p:nvPr/>
        </p:nvSpPr>
        <p:spPr>
          <a:xfrm>
            <a:off x="5130000" y="5841900"/>
            <a:ext cx="8046000" cy="90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Linha da tabela"/>
          <p:cNvSpPr/>
          <p:nvPr/>
        </p:nvSpPr>
        <p:spPr>
          <a:xfrm>
            <a:off x="5130000" y="6137100"/>
            <a:ext cx="8046000" cy="90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Linha da tabela"/>
          <p:cNvSpPr/>
          <p:nvPr/>
        </p:nvSpPr>
        <p:spPr>
          <a:xfrm>
            <a:off x="5130000" y="6427800"/>
            <a:ext cx="8046000" cy="1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Legenda Exp 5b"/>
          <p:cNvSpPr txBox="1"/>
          <p:nvPr/>
        </p:nvSpPr>
        <p:spPr>
          <a:xfrm>
            <a:off x="5130000" y="6562800"/>
            <a:ext cx="3960000" cy="8560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PP1:</a:t>
            </a: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 C = DMD → UTA,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B = UTA → UTA. Outras: outra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referência ou sem centragem.</a:t>
            </a:r>
          </a:p>
        </p:txBody>
      </p:sp>
      <p:pic>
        <p:nvPicPr>
          <p:cNvPr id="149" name="fig_poster_exp5b.png" descr="fig_poster_exp5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30000" y="7444800"/>
            <a:ext cx="3960000" cy="2554560"/>
          </a:xfrm>
          <a:prstGeom prst="rect">
            <a:avLst/>
          </a:prstGeom>
        </p:spPr>
      </p:pic>
      <p:sp>
        <p:nvSpPr>
          <p:cNvPr id="150" name="Vazamento"/>
          <p:cNvSpPr txBox="1"/>
          <p:nvPr/>
        </p:nvSpPr>
        <p:spPr>
          <a:xfrm>
            <a:off x="9270000" y="6562800"/>
            <a:ext cx="3906000" cy="1719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Vazamento</a:t>
            </a:r>
          </a:p>
          <a:p>
            <a:pPr algn="l">
              <a:lnSpc>
                <a:spcPts val="2200"/>
              </a:lnSpc>
              <a:spcBef>
                <a:spcPts val="200"/>
              </a:spcBef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Nas sequências de piscadas,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que se sobrepõem, partir por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janela infla a acurácia em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45,3 pp; nas janelas de 10 s,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12,6 pp no RF e 1,2 pp na RL.</a:t>
            </a:r>
          </a:p>
        </p:txBody>
      </p:sp>
      <p:sp>
        <p:nvSpPr>
          <p:cNvPr id="151" name="App"/>
          <p:cNvSpPr txBox="1"/>
          <p:nvPr/>
        </p:nvSpPr>
        <p:spPr>
          <a:xfrm>
            <a:off x="9270000" y="8426600"/>
            <a:ext cx="3906000" cy="157419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0"/>
              </a:lnSpc>
              <a:buNone/>
            </a:pPr>
            <a:r>
              <a:rPr sz="20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App v2.1</a:t>
            </a:r>
          </a:p>
          <a:p>
            <a:pPr algn="l">
              <a:lnSpc>
                <a:spcPts val="2200"/>
              </a:lnSpc>
              <a:spcBef>
                <a:spcPts val="200"/>
              </a:spcBef>
              <a:buNone/>
            </a:pP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Regras sobre olhos, bocejo e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cabeça. Na direção real do DMD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(63 min, usados no ajuste), ficou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3,3% do tempo em vermelho.</a:t>
            </a:r>
          </a:p>
        </p:txBody>
      </p:sp>
      <p:sp>
        <p:nvSpPr>
          <p:cNvPr id="152" name="Titulo col 3"/>
          <p:cNvSpPr txBox="1"/>
          <p:nvPr/>
        </p:nvSpPr>
        <p:spPr>
          <a:xfrm>
            <a:off x="13680000" y="2538000"/>
            <a:ext cx="4194000" cy="391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940"/>
              </a:lnSpc>
              <a:buNone/>
            </a:pPr>
            <a:r>
              <a:rPr sz="28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Conclusões</a:t>
            </a:r>
          </a:p>
        </p:txBody>
      </p:sp>
      <p:sp>
        <p:nvSpPr>
          <p:cNvPr id="153" name="Sintese"/>
          <p:cNvSpPr txBox="1"/>
          <p:nvPr/>
        </p:nvSpPr>
        <p:spPr>
          <a:xfrm>
            <a:off x="13680000" y="2970000"/>
            <a:ext cx="4194000" cy="135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40"/>
              </a:lnSpc>
              <a:buNone/>
            </a:pPr>
            <a:r>
              <a:rPr sz="24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Sono encenado é mais</a:t>
            </a:r>
            <a:br>
              <a:rPr lang="pt-BR" sz="2400"/>
            </a:br>
            <a:r>
              <a:rPr sz="24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extremo que o real: o modelo</a:t>
            </a:r>
            <a:br>
              <a:rPr lang="pt-BR" sz="2400"/>
            </a:br>
            <a:r>
              <a:rPr sz="24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do DMD reconhece só 48%</a:t>
            </a:r>
            <a:br>
              <a:rPr lang="pt-BR" sz="2400"/>
            </a:br>
            <a:r>
              <a:rPr sz="24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das janelas de sono real.</a:t>
            </a:r>
          </a:p>
        </p:txBody>
      </p:sp>
      <p:sp>
        <p:nvSpPr>
          <p:cNvPr id="154" name="Corpo col 3"/>
          <p:cNvSpPr txBox="1"/>
          <p:nvPr/>
        </p:nvSpPr>
        <p:spPr>
          <a:xfrm>
            <a:off x="13680000" y="4419120"/>
            <a:ext cx="4194000" cy="426761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40"/>
              </a:lnSpc>
              <a:buNone/>
            </a:pPr>
            <a:r>
              <a:rPr sz="20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PP1.</a:t>
            </a: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 Treinada no DMD, a RL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perde de 5,4 a 9,8 pontos de AUC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em todas as normalizações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testadas; o RF perde 10,9 só na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principal.</a:t>
            </a:r>
          </a:p>
          <a:p>
            <a:pPr algn="l">
              <a:lnSpc>
                <a:spcPts val="2140"/>
              </a:lnSpc>
              <a:spcBef>
                <a:spcPts val="420"/>
              </a:spcBef>
              <a:buNone/>
            </a:pPr>
            <a:r>
              <a:rPr sz="20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PP2.</a:t>
            </a: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 No iPhone 17 Pro, 11 a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23 ms por quadro (app 1.0).</a:t>
            </a:r>
          </a:p>
          <a:p>
            <a:pPr algn="l">
              <a:lnSpc>
                <a:spcPts val="2140"/>
              </a:lnSpc>
              <a:spcBef>
                <a:spcPts val="420"/>
              </a:spcBef>
              <a:buNone/>
            </a:pPr>
            <a:r>
              <a:rPr sz="20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PP3.</a:t>
            </a: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 À noite, a SNR do EAR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(abertura do olho) cai para 7,2,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mas o carro andando de dia já dá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8,7. Óculos: AUC do olho de 93,4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para 65,1 (CEW para MRL).</a:t>
            </a:r>
          </a:p>
          <a:p>
            <a:pPr algn="l">
              <a:lnSpc>
                <a:spcPts val="2140"/>
              </a:lnSpc>
              <a:spcBef>
                <a:spcPts val="420"/>
              </a:spcBef>
              <a:buNone/>
            </a:pPr>
            <a:r>
              <a:rPr sz="2000" b="1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Limitações.</a:t>
            </a: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 Um par de bases, 13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pessoas no DMD e noite sem</a:t>
            </a:r>
            <a:br>
              <a:rPr lang="pt-BR" sz="2000"/>
            </a:br>
            <a:r>
              <a:rPr sz="2000" b="0" lang="pt-BR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classe alerta.</a:t>
            </a:r>
          </a:p>
        </p:txBody>
      </p:sp>
      <p:sp>
        <p:nvSpPr>
          <p:cNvPr id="155" name="Referencias"/>
          <p:cNvSpPr txBox="1"/>
          <p:nvPr/>
        </p:nvSpPr>
        <p:spPr>
          <a:xfrm>
            <a:off x="13680000" y="8758739"/>
            <a:ext cx="4194000" cy="1260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30"/>
              </a:lnSpc>
              <a:buNone/>
            </a:pPr>
            <a:r>
              <a:rPr sz="1600" b="0" lang="pt-BR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[1] Ghoddoosian et al., CVPRW 2019.</a:t>
            </a:r>
            <a:br>
              <a:rPr lang="pt-BR" sz="1600"/>
            </a:br>
            <a:r>
              <a:rPr sz="1600" b="0" lang="pt-BR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[2] Ortega et al., ECCVW 2020. [3] Petrellis</a:t>
            </a:r>
            <a:br>
              <a:rPr lang="pt-BR" sz="1600"/>
            </a:br>
            <a:r>
              <a:rPr sz="1600" b="0" lang="pt-BR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et al., IEEE DataPort 2022. [4] Fusek, ISVC</a:t>
            </a:r>
            <a:br>
              <a:rPr lang="pt-BR" sz="1600"/>
            </a:br>
            <a:r>
              <a:rPr sz="1600" b="0" lang="pt-BR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2018. [5] Song et al., Pattern Recognit.</a:t>
            </a:r>
            <a:br>
              <a:rPr lang="pt-BR" sz="1600"/>
            </a:br>
            <a:r>
              <a:rPr sz="1600" b="0" lang="pt-BR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2014. [6] Lyu et al., arXiv 2018.</a:t>
            </a:r>
            <a:br>
              <a:rPr lang="pt-BR" sz="1600"/>
            </a:br>
            <a:r>
              <a:rPr sz="1600" b="0" lang="pt-BR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[7] ABRAMET/PRF, Agência Brasil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</TotalTime>
  <Words>208</Words>
  <Application>Microsoft Macintosh PowerPoint</Application>
  <PresentationFormat>Custom</PresentationFormat>
  <Paragraphs>25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Montserrat</vt:lpstr>
      <vt:lpstr>Arial</vt:lpstr>
      <vt:lpstr>Calibri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André Luís Oliveira Ferreira da Silva</cp:lastModifiedBy>
  <cp:revision>1</cp:revision>
  <dcterms:modified xsi:type="dcterms:W3CDTF">2026-10-26T23:56:09Z</dcterms:modified>
  <dc:title>Detecção de Sonolência em Dispositivos Móveis: Avaliação da Generalização entre Sonolência Atuada e Real</dc:title>
  <dc:creator>André Luís Oliveira Ferreira da Silva; Bruno Rodolfo da Silveira; Bruno Sandoval Ribeiro; Paulo Henrique Perin</dc:creator>
  <dc:subject>Pôster do Projeto Transformador II, Bacharelado em Ciência da Computação, PUCPR, 2026</dc:subject>
  <cp:keywords>detecção de sonolência; sonolência atuada; sonolência real; UTA-RLDD; DMD; celular</cp:keywords>
  <dc:language>pt-BR</dc:language>
  <cp:category>Pôster</cp:category>
  <dc:description/>
  <dcterms:created xsi:type="dcterms:W3CDTF">2026-10-26T23:56:09Z</dcterms:created>
</cp:coreProperties>
</file>